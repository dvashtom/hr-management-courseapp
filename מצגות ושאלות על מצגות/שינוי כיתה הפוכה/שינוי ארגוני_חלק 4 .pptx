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95" r:id="rId2"/>
    <p:sldMasterId id="2147483720" r:id="rId3"/>
  </p:sldMasterIdLst>
  <p:notesMasterIdLst>
    <p:notesMasterId r:id="rId10"/>
  </p:notesMasterIdLst>
  <p:handoutMasterIdLst>
    <p:handoutMasterId r:id="rId11"/>
  </p:handoutMasterIdLst>
  <p:sldIdLst>
    <p:sldId id="549" r:id="rId4"/>
    <p:sldId id="556" r:id="rId5"/>
    <p:sldId id="557" r:id="rId6"/>
    <p:sldId id="558" r:id="rId7"/>
    <p:sldId id="462" r:id="rId8"/>
    <p:sldId id="465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4000" b="1" kern="1200">
        <a:solidFill>
          <a:srgbClr val="FFFF0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800000"/>
    <a:srgbClr val="A11F88"/>
    <a:srgbClr val="823C84"/>
    <a:srgbClr val="500000"/>
    <a:srgbClr val="0A011B"/>
    <a:srgbClr val="0F012B"/>
    <a:srgbClr val="160141"/>
    <a:srgbClr val="FFFF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62" autoAdjust="0"/>
    <p:restoredTop sz="65031" autoAdjust="0"/>
  </p:normalViewPr>
  <p:slideViewPr>
    <p:cSldViewPr>
      <p:cViewPr varScale="1">
        <p:scale>
          <a:sx n="34" d="100"/>
          <a:sy n="34" d="100"/>
        </p:scale>
        <p:origin x="160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26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7E3F8154-1E61-4F31-95D0-4A84F3DE8E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8F23D744-D701-434E-9620-B05C449F71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60" name="Rectangle 4">
            <a:extLst>
              <a:ext uri="{FF2B5EF4-FFF2-40B4-BE49-F238E27FC236}">
                <a16:creationId xmlns:a16="http://schemas.microsoft.com/office/drawing/2014/main" id="{2F53FD40-E6F9-4526-A523-831F28B7170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4B66F51C-D357-4D30-9CD9-D2B1585B488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735D663F-85B8-4C8E-9DB2-904A719DE2CE}" type="slidenum">
              <a:rPr lang="he-IL" altLang="en-US"/>
              <a:pPr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26D81CB-A136-481F-A044-A75A4562B1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381C865-310D-4A7D-AB2B-87AF4B8E06C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1B261F5-9668-4803-A2E5-EFD408C1CF5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768549C8-9486-4533-AC27-EE0E7F1256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45D50133-2A63-4688-9038-760DD0A638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A186547F-D64A-4F66-BCE3-F4E135758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DD6EB5FA-AFE8-4A1B-90DB-58E5EFB207FE}" type="slidenum">
              <a:rPr lang="he-IL" altLang="en-US"/>
              <a:pPr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EA7C3119-AF60-4E18-8FCC-1DEF25F9D5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8C6BAE-AF81-43FB-87F3-7EDA07617FA5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6B8EF0F9-EB5C-4015-B15E-37C9C32EB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CB60E09-BE5D-4F9E-B825-09A075978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algn="r" eaLnBrk="1" hangingPunct="1">
              <a:lnSpc>
                <a:spcPct val="80000"/>
              </a:lnSpc>
            </a:pPr>
            <a:endParaRPr lang="en-US" altLang="en-US" sz="900" b="1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849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A33C8B77-16C0-4E02-8B90-085FCB7AE1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5A1334-32B4-4050-B04B-2F5FBE0F8604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00C479D-441F-4429-9C75-59A5CCBCFE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B528AA06-FC78-422B-ABC8-CF4AFE219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841" tIns="44623" rIns="90841" bIns="44623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D1C0C204-47DB-49DB-94A8-27C6318921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8C395C-C543-4D04-BCC0-15716D6480E1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C7966035-0C76-456B-9494-3A7B399FD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8E7EA2FC-ACBA-4AB4-9FF9-7D34C0FCF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841" tIns="44623" rIns="90841" bIns="44623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FCC9E2ED-0BDF-48DE-BF53-768AB6F89F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59389E-CD8A-4BDE-B4AD-C856B0A34971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1C72DB89-6CE2-4BEA-A1F2-3463936321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271FB7D3-DFC0-45D2-8F3D-C8BAC9C8A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841" tIns="44623" rIns="90841" bIns="44623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8053D34-B0F5-4757-B5D3-B5E97AF054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1B223B-28DF-48B5-A181-79A8C5D7FC16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25D2CEF3-0375-41C1-86BF-AF5D087E02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852745E-855C-4B39-B5B4-DE1FEED48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445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3F407592-C709-4EED-BF6A-797B13A641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11A1A9-9C0B-409E-B1FD-63AAAF2C3289}" type="slidenum">
              <a:rPr kumimoji="0" lang="he-IL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0D433F40-B20A-41D1-9E4C-E88765C4F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7E97DC59-817D-4F23-B52F-7D4AA89C39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80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D595CCB9-8F28-4B9E-8279-1C1FBC0EB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8E94663-55F6-4E0C-A2CE-BEE364211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7754733-3D6C-4CE2-B3FC-F7DF12E60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69D35-81F9-4E08-99F8-FCB7DF815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47E55-FC7A-48D0-9C8F-F47330C2D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35349-CD94-4FDF-A0D3-4BEF114033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9F3588-0875-4676-9D7A-A8888E56417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8157203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B96129-941C-4851-B822-48BB834AD7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4A7F64-413A-446C-B8D3-9511CD82E5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CDBB18F-72D0-486A-B885-81179CFB1A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3AB0D-E177-45A3-876B-568822EEE62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978955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503689D-0DD4-48D3-B8D6-947B70E38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9CAE2C-254C-4A1D-B38A-41F289F436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524D57B-7886-4EBC-9BBE-7359C3650B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C7EEB-78E3-4CEF-8EF8-E82789586D9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9512487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4AE57B-7CC7-4C64-A173-298F6A378A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97008A-32E9-4B58-AF22-E258BA516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7B3D7C2-424C-478F-96FE-B57FB6D289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B45E8-A551-4B44-B2BC-D085E264542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787159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5146AC0-C637-46AF-A74B-5919A2B67F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775CD4C-2370-4D37-B1EC-CAAD18003D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D052479-8B7C-4333-B3B1-82A2F930E2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EB736-C680-4FC7-A447-09DEA3A53EAB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715713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1683FDB-1090-475C-8542-A24C1638C5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81E6F9-A879-4204-A617-C7AB1F4E0A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A4388B5-BB14-46C9-B26C-3FB2E52DBF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E4D41-E3E1-4784-82E2-A6F8FB2F1BF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788572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E412471-6B9D-4238-A5A4-A5D3249D42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2196139-4569-47CF-A970-B57ADACE12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79EBC0B-3C6D-44FE-9B82-67E5E6BBE4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CBB2E-8E51-42A5-A9A7-636E86EFC54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964555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9528D4-9BC0-42C5-A767-A49F8CD605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C6B8E8-F335-4FBA-BC18-7551E7379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E5AD620-9680-426F-8A6B-48090512F0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9998-7A80-496B-BFA1-CF43AD88AFA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798425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6B7A48-7788-4D20-96FD-21A30B34C0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A7A5B8-0512-4028-8C47-ABD2FB605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16F6B57-0563-4F01-A370-4484C554B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DC845-7EAA-4681-BE2D-3F6E29416F1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4895794"/>
      </p:ext>
    </p:extLst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6BAD19F-5DF5-4AE8-B357-24218818CC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EB67DD-9966-405E-AF4E-956F34B7C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EBE10E6-D467-4AD5-89C4-55EC1F45A7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5E1386-49D3-479A-9175-8A5921F5A59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8717702"/>
      </p:ext>
    </p:extLst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B8DBE98-6CF1-4F02-AE0E-63EEF12B21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05E1E4-EE95-4B71-AD58-03CF465D31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904D34E-D9AB-44CD-B006-BC74B6BC6B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1AFB0-0DFC-4E74-9DCF-848D4B1AB79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2446478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2A2516-FF43-42B6-B57C-1C32D62683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B307ED-42F6-4AF7-A73C-4A2EBCE916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542C999-3945-43B2-90F3-083D73DFC0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4AFCE-9756-443E-8BC6-C85A525E15D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910544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E34197-C911-4BCD-958D-29BD73523B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DDC7E9-2C56-4C01-82A0-67AF9DEBB6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53FCCA0-CFAB-4AFB-A3C2-033B741843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94777-71E5-43B6-807E-FBD37EF042A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886339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E70DDDF-535C-4151-9D1D-91AE381D5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0FCCC83-9B98-4132-A77F-9F878CF05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668E4C-8826-4BC7-9990-FCDEA6921C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9E868-51EB-4EA8-9D25-3CBB6BC3C5D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609775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2C98C061-7170-41DF-87DD-F43C6B6EF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BD64F1B-B9A6-4548-B735-88C104D80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05DA0AF-FBA9-4228-B150-2FD1E699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20C851-622B-4324-ACA1-10DCDDF827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44EE2-FE81-41C9-9E4D-EC4CAA2E24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5772E-A807-4D12-BEDE-D529910795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4BF2567-D7EC-4FF9-AC98-C28F2A0F325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842970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B22023-91AA-4FF9-877E-E1745C357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F94474-C0E9-40D6-9EE7-8F5E70CE61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7E2DA62-12F5-4FD8-B1F4-AA21FDDCF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94071-01DA-477E-B448-D8A141C6FA49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781959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43854F-2F8A-4AB2-A7C3-E25F3B4148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EBA1A6A-129E-406F-AD38-0A4D596804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63ED05E-C151-4BEA-8E87-6334AB0E3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35DE72-FB6B-4FF7-9CFB-5E840039C37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3704299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06C77F-59E9-46F0-A152-77A16DCD44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92CFA1-A0C1-4827-A907-FC6B774EAE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A645C6B-3CC3-4037-8977-126101C4E3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0E92B9-E8C5-4541-A524-E5B6442F9CA8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1589312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8847089-6563-4272-87CE-980E434073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45DB437-23AB-4F65-842E-C251A5260D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11E668F-C722-4193-8DA7-036B2572E2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DE9F42-6B1B-49BA-A06F-7F46BF9F749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883172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7C59691-E305-4B58-AF97-6BBB37552E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8EEF511-97C0-43A5-BC2E-193DD6351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FD5F4E4-F6F0-43FE-8E37-F30205A157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0A2486-C922-45DC-ADA9-D8B01AA08AF6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6839578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EDB2F98-7411-4971-82D7-C43590F015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F7B7E25-D4B9-41A0-9060-86C9F711AB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3AB74D3-3DEE-40AC-A5D0-1E6890515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581D86-3B0A-4519-BD5E-367652693953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8443898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82F180-5166-4994-B0B7-7992A50E02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BC3D3E-5C5C-42F6-BFB4-03D20A35BD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19D8AAD-C8CD-481B-90EA-0862A4363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AD83EB-7D29-4BBE-8C44-1E03E620A31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9093462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FFF6AE-641C-4AD5-A1E7-3CC9D304FB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7A59DB-B6F1-4A9E-A81C-F5973AF0F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4D68D73-660B-4C3A-83A2-F65E602607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980987-5FCF-4418-A32B-93C3C9F4F35B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3029196"/>
      </p:ext>
    </p:extLst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FEB3B5-2FE8-43B9-8923-6FD9E61CC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14C03F-82BA-4168-87DA-4582CB564F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4AC557E-3E32-4EEE-9806-76BAC15494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3D9E4C-21D2-4C5E-93A7-0607A6CAB41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311373"/>
      </p:ext>
    </p:extLst>
  </p:cSld>
  <p:clrMapOvr>
    <a:masterClrMapping/>
  </p:clrMapOvr>
  <p:transition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AC67BD0-95CE-46E4-8C11-07D21DFF05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390C28-18D9-4D28-973E-E063E05051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11E9357-F417-4FDD-898B-EBEAC4F463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73BA5D-CF64-4B85-A6E4-5805FBCA879F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149622"/>
      </p:ext>
    </p:extLst>
  </p:cSld>
  <p:clrMapOvr>
    <a:masterClrMapping/>
  </p:clrMapOvr>
  <p:transition spd="med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544D2-90C0-4E44-84BF-02DAC02875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31EA84-67B5-4AE0-8988-4D92E0E14F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5EB4868-8A11-4CA8-8C20-F2EBB71345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307E89-3731-4D48-8B53-DF88CA74BE4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4520275"/>
      </p:ext>
    </p:extLst>
  </p:cSld>
  <p:clrMapOvr>
    <a:masterClrMapping/>
  </p:clrMapOvr>
  <p:transition spd="med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D04AA51F-64B4-46BB-93C6-A253FCC0B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3086E63-7DB4-4789-91F0-3A92F6A21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1349851-5839-4D10-ACE5-56DD12212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CACC47-A049-4B5D-AB12-237505D984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7F7EE-7F0E-4E6C-A66F-ACED82A6FC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EA8A3-4287-48C0-B4E0-6245E47F80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8D794B9-7B4A-4183-B8E0-F1B4418A08C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655481"/>
      </p:ext>
    </p:extLst>
  </p:cSld>
  <p:clrMapOvr>
    <a:masterClrMapping/>
  </p:clrMapOvr>
  <p:transition spd="med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45BEB29-2343-408E-8C20-A86CC3673A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750EC7-3A2F-459E-AFD4-0E8613F94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100E10F-895B-4779-B1D5-E7EA4139F2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CAF02-019D-4CAA-A2DB-E94DBDA8BFF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6845241"/>
      </p:ext>
    </p:extLst>
  </p:cSld>
  <p:clrMapOvr>
    <a:masterClrMapping/>
  </p:clrMapOvr>
  <p:transition spd="med"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1EFFFF-464C-4C44-BFAD-499D50A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9328571-10E5-4BAF-9A91-5B48F0D2E3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E20803E-FE6B-4FBA-A4EA-A93E857C70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B416B-5DEF-4218-99D4-2FD14DBB45B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3561826"/>
      </p:ext>
    </p:extLst>
  </p:cSld>
  <p:clrMapOvr>
    <a:masterClrMapping/>
  </p:clrMapOvr>
  <p:transition spd="med"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B45E62-84D0-4A82-A622-4DD5BDCC8B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125C06-2950-4D24-B6CA-34135CD1C2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1152F60-FA37-49A7-9148-AF764AEF11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A249E-EA72-456B-8720-A1EC0DA9BEE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126452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FF2D199-2FFE-4CD9-AC9D-0293D43FD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CE11535-1BEE-41D9-B03A-E9E162F409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316A4AC-8E95-4661-B330-CC6FB6828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82EC3-CA1B-4BA4-95AE-7C47BC8A636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9496052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BDE66E-02FD-43D1-82F5-03E9EB5BC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DA96A71-96F4-4286-8C35-B0F0E04519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61279F-7A2D-4A4E-845D-3459A8396A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018E1E-7448-49EE-824C-F95DA4DE6EB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3439312"/>
      </p:ext>
    </p:extLst>
  </p:cSld>
  <p:clrMapOvr>
    <a:masterClrMapping/>
  </p:clrMapOvr>
  <p:transition spd="med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E1CF5F2-C529-441D-88A9-E7CE39D83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D3BA6E8-C107-4864-9A60-F99F4B6916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14458C-58B5-4920-B5FB-B9A7018DA8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6BC5D-A011-4E65-AB24-27441FD3DA7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410701"/>
      </p:ext>
    </p:extLst>
  </p:cSld>
  <p:clrMapOvr>
    <a:masterClrMapping/>
  </p:clrMapOvr>
  <p:transition spd="med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545D84-31B0-4634-8F0A-65F933FB4A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892681-EA6B-4819-8570-81F6A1F301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51FAB87-DAA7-4F2C-9882-62ACF881B7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93C4A-3210-461D-840B-1A7CFACD534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767721"/>
      </p:ext>
    </p:extLst>
  </p:cSld>
  <p:clrMapOvr>
    <a:masterClrMapping/>
  </p:clrMapOvr>
  <p:transition spd="med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175E11-B745-4F1F-945F-852EBEA918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B7AAB2-5418-4420-A47F-53911C682E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BC8C5CB-719C-4BC8-B1D2-CB3A754978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17E76-1D21-471B-AE88-7D02DFD2633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6143092"/>
      </p:ext>
    </p:extLst>
  </p:cSld>
  <p:clrMapOvr>
    <a:masterClrMapping/>
  </p:clrMapOvr>
  <p:transition spd="med"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43D1A81-8BA8-40B8-A12F-9AE03E9D18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DD1078-1594-447D-8BBA-FDF3F33F33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5BA9082-D179-452B-8282-C9FA026561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EE44C-618A-4124-9956-539FED2ACF1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689441"/>
      </p:ext>
    </p:extLst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2AF3B1-AC64-4A60-8D52-03CB3C812A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2591546-C64F-454E-8C00-71A3057B3F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B587B90-177A-40CB-BA03-34B533AB31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6FB3B-6350-4E91-A3B9-617EB7DF361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545583"/>
      </p:ext>
    </p:extLst>
  </p:cSld>
  <p:clrMapOvr>
    <a:masterClrMapping/>
  </p:clrMapOvr>
  <p:transition spd="med">
    <p:fade thruBlk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583020-E0AF-49EB-ACE1-7A6EE7CD78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1D08BE-4313-4B7C-AE8C-E70406E747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6CB11C7-0597-4244-9814-1684A7784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40C39-A5E6-45FA-9700-85EA55F6CB1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225658"/>
      </p:ext>
    </p:extLst>
  </p:cSld>
  <p:clrMapOvr>
    <a:masterClrMapping/>
  </p:clrMapOvr>
  <p:transition spd="med">
    <p:fade thruBlk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01186A-9D95-4266-96FB-F7A399451A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87B316-6D29-42AA-9AA6-9B4B0C9745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3187F99-B55C-475A-964E-E1956E06C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47DF5-DBAC-4F0D-AB3B-AC7EBAF41E0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7066073"/>
      </p:ext>
    </p:extLst>
  </p:cSld>
  <p:clrMapOvr>
    <a:masterClrMapping/>
  </p:clrMapOvr>
  <p:transition spd="med">
    <p:fade thruBlk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10BFFE9-6C77-4543-9B23-C88DCE29CB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BAFBE99-D527-4C6A-AD33-A1385B6486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E4D3B75-C355-495A-BB3B-CDDB4575F9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5B48E-7BEA-4E0C-9D38-E111BA0751F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769367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F5E66044-BE9A-4129-9821-0891161FF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4361378B-A34E-422D-8CCC-C609857B5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C0E228BA-BE33-4B39-B139-4CEDABF0F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7EA2271F-6AC2-4AC6-82F1-A1A2E5462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0D91053A-C1FB-4ACD-819B-3D4C28639C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0613F722-7808-4A2D-84DB-51E8B9915B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392841BA-66FC-4FFD-BC36-11BD7441B7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 smtClean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6A1B0BEC-8C60-462D-8BD9-458FF856F46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5FF98F76-D78A-4C55-B1E7-61D1E09E1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8C262390-B6AC-4A48-84B2-3992E8AD7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7409CDC1-5800-4B99-90AC-8630BE8DC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0BB16C2B-AA40-4033-8CEE-EC2A628B9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41E47064-2EC2-4D65-8E78-E9488110B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45A047B9-0886-4E6F-A395-B8CB87F93D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CBAED192-39FE-4C56-8D88-7DDD0DD602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F89D879A-A2D7-47BC-8E3B-DF24CC9502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fld id="{E6E8C164-D3D1-4166-8172-33471C8A4C22}" type="slidenum">
              <a:rPr lang="he-IL" altLang="en-US"/>
              <a:pPr/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2A4A1E2-98A1-4245-A52A-4F12783AE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351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27700521-32ED-4B16-A8A3-CEC46007F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804938C6-F1F6-4182-BD5F-308713E0B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1B3CA5B6-132F-40F8-93CD-17FBE8EC4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E5ADC285-1F92-479E-B790-9C7C7EE7F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14D98F5C-A965-41A0-8B01-1A2ED3435E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BA4EC6CD-05C6-4CCE-A089-7306E4155F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A432E51D-B783-4C24-A570-67E72B97302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 smtClean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ACDAD68-5185-4F5F-AA7C-88FF7DE4FCE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E3882B2B-BEBD-44A5-828F-5A9313C16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17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8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>
            <a:extLst>
              <a:ext uri="{FF2B5EF4-FFF2-40B4-BE49-F238E27FC236}">
                <a16:creationId xmlns:a16="http://schemas.microsoft.com/office/drawing/2014/main" id="{3DA966CF-0398-480C-AAAC-C03D2CF3B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C1A73-73D7-4C3F-883C-65347B28B9CF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F196ED1-7626-4320-BCF9-4E8018CA2B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e-IL" altLang="en-US" sz="4400" dirty="0"/>
              <a:t>שינוי ארגוני</a:t>
            </a:r>
            <a:endParaRPr lang="en-US" altLang="en-US" sz="4400" dirty="0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A5843B5-9C3F-4837-A11F-93E6942EE3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1188" y="2636912"/>
            <a:ext cx="7704138" cy="1081088"/>
          </a:xfrm>
        </p:spPr>
        <p:txBody>
          <a:bodyPr/>
          <a:lstStyle/>
          <a:p>
            <a:pPr eaLnBrk="1" hangingPunct="1"/>
            <a:r>
              <a:rPr lang="he-IL" altLang="en-US" dirty="0"/>
              <a:t>חלק 4</a:t>
            </a:r>
          </a:p>
          <a:p>
            <a:pPr eaLnBrk="1" hangingPunct="1"/>
            <a:r>
              <a:rPr lang="he-IL" altLang="en-US" dirty="0"/>
              <a:t>הטמעת שינוי</a:t>
            </a:r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he-IL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D4134-DE8F-4DDF-8F57-7E4770B17205}"/>
              </a:ext>
            </a:extLst>
          </p:cNvPr>
          <p:cNvSpPr txBox="1"/>
          <p:nvPr/>
        </p:nvSpPr>
        <p:spPr>
          <a:xfrm>
            <a:off x="6318262" y="6144796"/>
            <a:ext cx="2371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ד"ר שרון ברקן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77439-7D5B-4BF4-B5C3-0B266CB40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18000"/>
            <a:ext cx="3695448" cy="3140000"/>
          </a:xfrm>
          <a:prstGeom prst="rect">
            <a:avLst/>
          </a:prstGeom>
          <a:effectLst>
            <a:softEdge rad="228600"/>
          </a:effectLst>
        </p:spPr>
      </p:pic>
    </p:spTree>
    <p:extLst>
      <p:ext uri="{BB962C8B-B14F-4D97-AF65-F5344CB8AC3E}">
        <p14:creationId xmlns:p14="http://schemas.microsoft.com/office/powerpoint/2010/main" val="3154958238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>
            <a:extLst>
              <a:ext uri="{FF2B5EF4-FFF2-40B4-BE49-F238E27FC236}">
                <a16:creationId xmlns:a16="http://schemas.microsoft.com/office/drawing/2014/main" id="{E7607B08-9827-4588-AC9D-9390B184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FA3F1B-B807-4FEE-AF2D-0FB5F8EEEE1C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6A1F432-2C60-4044-9BE8-357FBBF34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z="2900">
                <a:latin typeface="Tahoma" panose="020B0604030504040204" pitchFamily="34" charset="0"/>
              </a:rPr>
              <a:t>Kotter’s Eight Steps for Leading Organizational Change</a:t>
            </a:r>
            <a:endParaRPr lang="en-US" altLang="en-US" sz="1400">
              <a:solidFill>
                <a:srgbClr val="CC3300"/>
              </a:solidFill>
              <a:latin typeface="Tahoma" panose="020B0604030504040204" pitchFamily="34" charset="0"/>
            </a:endParaRPr>
          </a:p>
        </p:txBody>
      </p:sp>
      <p:grpSp>
        <p:nvGrpSpPr>
          <p:cNvPr id="64516" name="Group 3">
            <a:extLst>
              <a:ext uri="{FF2B5EF4-FFF2-40B4-BE49-F238E27FC236}">
                <a16:creationId xmlns:a16="http://schemas.microsoft.com/office/drawing/2014/main" id="{4BDFFFBD-F4B3-4A8D-A9C8-E9DCD425CCF3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5815013"/>
            <a:ext cx="8077200" cy="638175"/>
            <a:chOff x="432" y="2496"/>
            <a:chExt cx="5088" cy="403"/>
          </a:xfrm>
        </p:grpSpPr>
        <p:sp>
          <p:nvSpPr>
            <p:cNvPr id="64527" name="Rectangle 4">
              <a:extLst>
                <a:ext uri="{FF2B5EF4-FFF2-40B4-BE49-F238E27FC236}">
                  <a16:creationId xmlns:a16="http://schemas.microsoft.com/office/drawing/2014/main" id="{32EE9E65-0111-40F5-A54F-C94B8B713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2496"/>
              <a:ext cx="2843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יצירת חזון ותוכניית אסטרטגית שתנחה את השינוי.</a:t>
              </a: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  <p:sp>
          <p:nvSpPr>
            <p:cNvPr id="64528" name="Rectangle 5">
              <a:extLst>
                <a:ext uri="{FF2B5EF4-FFF2-40B4-BE49-F238E27FC236}">
                  <a16:creationId xmlns:a16="http://schemas.microsoft.com/office/drawing/2014/main" id="{6C6D21E9-10BD-4D81-8C75-D984E5205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496"/>
              <a:ext cx="2245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marL="533400" indent="-5334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295400" indent="-3810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7145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1717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6289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0861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5433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0005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Tx/>
                <a:buAutoNum type="arabicParenR" startAt="3"/>
                <a:tabLst/>
                <a:defRPr/>
              </a:pPr>
              <a:r>
                <a:rPr kumimoji="0" lang="he-IL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פיתוח חזון ואסטרטגיה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</p:grpSp>
      <p:grpSp>
        <p:nvGrpSpPr>
          <p:cNvPr id="64517" name="Group 6">
            <a:extLst>
              <a:ext uri="{FF2B5EF4-FFF2-40B4-BE49-F238E27FC236}">
                <a16:creationId xmlns:a16="http://schemas.microsoft.com/office/drawing/2014/main" id="{EFA8B71A-035F-47DE-9488-BBFB2C866335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4005263"/>
            <a:ext cx="8077200" cy="823912"/>
            <a:chOff x="432" y="1977"/>
            <a:chExt cx="5088" cy="519"/>
          </a:xfrm>
        </p:grpSpPr>
        <p:sp>
          <p:nvSpPr>
            <p:cNvPr id="64525" name="Rectangle 7">
              <a:extLst>
                <a:ext uri="{FF2B5EF4-FFF2-40B4-BE49-F238E27FC236}">
                  <a16:creationId xmlns:a16="http://schemas.microsoft.com/office/drawing/2014/main" id="{4021033E-999F-4D66-B033-592D175FE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1977"/>
              <a:ext cx="2843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יצירת קבוצה מגוונת של אנשי הארגון שיש להם מספיק כוח  להוביל שינוי. "נושאי דגל". </a:t>
              </a: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עידוד חברי הקבוצה לפעול ביחד כצוות</a:t>
              </a: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  <p:sp>
          <p:nvSpPr>
            <p:cNvPr id="64526" name="Rectangle 8">
              <a:extLst>
                <a:ext uri="{FF2B5EF4-FFF2-40B4-BE49-F238E27FC236}">
                  <a16:creationId xmlns:a16="http://schemas.microsoft.com/office/drawing/2014/main" id="{1FBFA303-7CBB-4B81-9BC1-C05B967FC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977"/>
              <a:ext cx="2245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marL="533400" indent="-5334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295400" indent="-3810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7145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1717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6289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0861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5433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0005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Tx/>
                <a:buAutoNum type="arabicParenR" startAt="2"/>
                <a:tabLst/>
                <a:defRPr/>
              </a:pPr>
              <a:r>
                <a:rPr kumimoji="0" lang="he-IL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יצירת קואליציה מנחה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</p:grpSp>
      <p:grpSp>
        <p:nvGrpSpPr>
          <p:cNvPr id="64518" name="Group 9">
            <a:extLst>
              <a:ext uri="{FF2B5EF4-FFF2-40B4-BE49-F238E27FC236}">
                <a16:creationId xmlns:a16="http://schemas.microsoft.com/office/drawing/2014/main" id="{F302AF38-57A9-4349-9964-CAD11459E159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276475"/>
            <a:ext cx="8077200" cy="823913"/>
            <a:chOff x="432" y="1458"/>
            <a:chExt cx="5088" cy="519"/>
          </a:xfrm>
        </p:grpSpPr>
        <p:sp>
          <p:nvSpPr>
            <p:cNvPr id="64523" name="Rectangle 10">
              <a:extLst>
                <a:ext uri="{FF2B5EF4-FFF2-40B4-BE49-F238E27FC236}">
                  <a16:creationId xmlns:a16="http://schemas.microsoft.com/office/drawing/2014/main" id="{08CB2263-481B-4CA7-A46D-C17C3243A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1458"/>
              <a:ext cx="2843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"הפשרת" הארגון ע"י  מתן סיבה טובה לשינוי (הדגשת משברים קיימים, משברים פוטנציאליים והזדמנויות משמעותיות).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  <p:sp>
          <p:nvSpPr>
            <p:cNvPr id="64524" name="Rectangle 11">
              <a:extLst>
                <a:ext uri="{FF2B5EF4-FFF2-40B4-BE49-F238E27FC236}">
                  <a16:creationId xmlns:a16="http://schemas.microsoft.com/office/drawing/2014/main" id="{A1205904-6D5B-4F4D-A297-6B56E1295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58"/>
              <a:ext cx="2245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marL="533400" indent="-5334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295400" indent="-3810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7145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1717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6289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0861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5433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0005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Tx/>
                <a:buAutoNum type="arabicParenR"/>
                <a:tabLst/>
                <a:defRPr/>
              </a:pPr>
              <a:r>
                <a:rPr kumimoji="0" lang="he-IL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יצירת תחושת דחיפות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</p:grpSp>
      <p:sp>
        <p:nvSpPr>
          <p:cNvPr id="64519" name="Rectangle 12">
            <a:extLst>
              <a:ext uri="{FF2B5EF4-FFF2-40B4-BE49-F238E27FC236}">
                <a16:creationId xmlns:a16="http://schemas.microsoft.com/office/drawing/2014/main" id="{1E7C7D97-E995-45EC-B8A7-E5D39DB54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9738" y="1773238"/>
            <a:ext cx="4513262" cy="365125"/>
          </a:xfrm>
          <a:prstGeom prst="rect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rPr>
              <a:t>תאור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David" panose="020E0502060401010101" pitchFamily="34" charset="-79"/>
            </a:endParaRPr>
          </a:p>
        </p:txBody>
      </p:sp>
      <p:sp>
        <p:nvSpPr>
          <p:cNvPr id="64520" name="Rectangle 13">
            <a:extLst>
              <a:ext uri="{FF2B5EF4-FFF2-40B4-BE49-F238E27FC236}">
                <a16:creationId xmlns:a16="http://schemas.microsoft.com/office/drawing/2014/main" id="{D34F40D4-F324-4B72-80D7-6790BD718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73238"/>
            <a:ext cx="3563938" cy="365125"/>
          </a:xfrm>
          <a:prstGeom prst="rect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rPr>
              <a:t>צעד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David" panose="020E0502060401010101" pitchFamily="34" charset="-79"/>
            </a:endParaRPr>
          </a:p>
        </p:txBody>
      </p:sp>
      <p:sp>
        <p:nvSpPr>
          <p:cNvPr id="64521" name="Line 14">
            <a:extLst>
              <a:ext uri="{FF2B5EF4-FFF2-40B4-BE49-F238E27FC236}">
                <a16:creationId xmlns:a16="http://schemas.microsoft.com/office/drawing/2014/main" id="{BB2BA9A0-3B82-4D62-A8E7-48317821A8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3138488"/>
            <a:ext cx="0" cy="82391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4522" name="Line 15">
            <a:extLst>
              <a:ext uri="{FF2B5EF4-FFF2-40B4-BE49-F238E27FC236}">
                <a16:creationId xmlns:a16="http://schemas.microsoft.com/office/drawing/2014/main" id="{D47AD181-E050-47CD-920A-F5E3020C63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738" y="5426075"/>
            <a:ext cx="4513262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68FB84C0-3CAC-44C2-9964-FB941600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6B54A5-6A3A-4746-B515-0E8807DD689A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35D31E74-D892-4177-828D-7794DFD31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z="2900">
                <a:latin typeface="Tahoma" panose="020B0604030504040204" pitchFamily="34" charset="0"/>
              </a:rPr>
              <a:t>Kotter’s Eight Steps for Leading Organizational Change</a:t>
            </a:r>
          </a:p>
        </p:txBody>
      </p:sp>
      <p:grpSp>
        <p:nvGrpSpPr>
          <p:cNvPr id="66564" name="Group 3">
            <a:extLst>
              <a:ext uri="{FF2B5EF4-FFF2-40B4-BE49-F238E27FC236}">
                <a16:creationId xmlns:a16="http://schemas.microsoft.com/office/drawing/2014/main" id="{6349B220-0B48-4CAF-8D68-FE316F734CF9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708275"/>
            <a:ext cx="8077200" cy="825500"/>
            <a:chOff x="432" y="2899"/>
            <a:chExt cx="5088" cy="519"/>
          </a:xfrm>
        </p:grpSpPr>
        <p:sp>
          <p:nvSpPr>
            <p:cNvPr id="66572" name="Rectangle 4">
              <a:extLst>
                <a:ext uri="{FF2B5EF4-FFF2-40B4-BE49-F238E27FC236}">
                  <a16:creationId xmlns:a16="http://schemas.microsoft.com/office/drawing/2014/main" id="{437C711B-0090-4A20-80E8-240353691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2899"/>
              <a:ext cx="2843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8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יצירת אסטרטגיה תקשורתית.</a:t>
              </a: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שימוש בכל כלי אפשרי להפצת החזון והאסטרטגיות (במלים ובמעשים).</a:t>
              </a: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דוגמא אישית של הקואליציה המנחה.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  <p:sp>
          <p:nvSpPr>
            <p:cNvPr id="66573" name="Rectangle 5">
              <a:extLst>
                <a:ext uri="{FF2B5EF4-FFF2-40B4-BE49-F238E27FC236}">
                  <a16:creationId xmlns:a16="http://schemas.microsoft.com/office/drawing/2014/main" id="{BA7A6152-E3D2-49B0-B730-E1B1A900E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899"/>
              <a:ext cx="2245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8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marL="533400" indent="-5334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295400" indent="-3810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7145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1717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6289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0861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5433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0005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Tx/>
                <a:buAutoNum type="arabicParenR" startAt="4"/>
                <a:tabLst/>
                <a:defRPr/>
              </a:pPr>
              <a:r>
                <a:rPr kumimoji="0" lang="he-IL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Shruti" panose="020B0502040204020203" pitchFamily="34" charset="0"/>
                  <a:ea typeface="+mn-ea"/>
                  <a:cs typeface="David" panose="020E0502060401010101" pitchFamily="34" charset="-79"/>
                </a:rPr>
                <a:t>הפצת חזון השינוי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Shruti" panose="020B0502040204020203" pitchFamily="34" charset="0"/>
                <a:ea typeface="+mn-ea"/>
                <a:cs typeface="David" panose="020E0502060401010101" pitchFamily="34" charset="-79"/>
              </a:endParaRPr>
            </a:p>
          </p:txBody>
        </p:sp>
      </p:grpSp>
      <p:sp>
        <p:nvSpPr>
          <p:cNvPr id="66565" name="Rectangle 6">
            <a:extLst>
              <a:ext uri="{FF2B5EF4-FFF2-40B4-BE49-F238E27FC236}">
                <a16:creationId xmlns:a16="http://schemas.microsoft.com/office/drawing/2014/main" id="{3ECCD6FE-82D4-4BA5-A64D-17DDB6DA5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9738" y="1773238"/>
            <a:ext cx="4513262" cy="365125"/>
          </a:xfrm>
          <a:prstGeom prst="rect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rPr>
              <a:t>תאור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David" panose="020E0502060401010101" pitchFamily="34" charset="-79"/>
            </a:endParaRPr>
          </a:p>
        </p:txBody>
      </p:sp>
      <p:sp>
        <p:nvSpPr>
          <p:cNvPr id="66566" name="Rectangle 7">
            <a:extLst>
              <a:ext uri="{FF2B5EF4-FFF2-40B4-BE49-F238E27FC236}">
                <a16:creationId xmlns:a16="http://schemas.microsoft.com/office/drawing/2014/main" id="{CC05A2D0-3C4D-4B21-A74D-C36525FA5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73238"/>
            <a:ext cx="3563938" cy="365125"/>
          </a:xfrm>
          <a:prstGeom prst="rect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rPr>
              <a:t>צעד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David" panose="020E0502060401010101" pitchFamily="34" charset="-79"/>
            </a:endParaRPr>
          </a:p>
        </p:txBody>
      </p:sp>
      <p:sp>
        <p:nvSpPr>
          <p:cNvPr id="66567" name="Line 8">
            <a:extLst>
              <a:ext uri="{FF2B5EF4-FFF2-40B4-BE49-F238E27FC236}">
                <a16:creationId xmlns:a16="http://schemas.microsoft.com/office/drawing/2014/main" id="{EFF45C2E-9B90-4839-85CD-0C9FF4760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3138488"/>
            <a:ext cx="0" cy="82391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6568" name="Line 9">
            <a:extLst>
              <a:ext uri="{FF2B5EF4-FFF2-40B4-BE49-F238E27FC236}">
                <a16:creationId xmlns:a16="http://schemas.microsoft.com/office/drawing/2014/main" id="{F696C67A-F0AA-4BD7-948F-3DDAA01CE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738" y="5426075"/>
            <a:ext cx="4513262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6569" name="Group 10">
            <a:extLst>
              <a:ext uri="{FF2B5EF4-FFF2-40B4-BE49-F238E27FC236}">
                <a16:creationId xmlns:a16="http://schemas.microsoft.com/office/drawing/2014/main" id="{ED6643E6-7606-4932-8B59-D06C2FF9D221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910138"/>
            <a:ext cx="8077200" cy="823912"/>
            <a:chOff x="432" y="1482"/>
            <a:chExt cx="5088" cy="519"/>
          </a:xfrm>
        </p:grpSpPr>
        <p:sp>
          <p:nvSpPr>
            <p:cNvPr id="66570" name="Rectangle 11">
              <a:extLst>
                <a:ext uri="{FF2B5EF4-FFF2-40B4-BE49-F238E27FC236}">
                  <a16:creationId xmlns:a16="http://schemas.microsoft.com/office/drawing/2014/main" id="{14804366-93F9-472F-938E-0D3BC3617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1482"/>
              <a:ext cx="2843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הסרת מכשולים לשינוי: התנגדויות עובדים ו/או מעצורים מבניים.</a:t>
              </a: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עידוד עובדים ללקיחת אחריות וליצירתיות ברעיונות ובמעשים.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  <p:sp>
          <p:nvSpPr>
            <p:cNvPr id="66571" name="Rectangle 12">
              <a:extLst>
                <a:ext uri="{FF2B5EF4-FFF2-40B4-BE49-F238E27FC236}">
                  <a16:creationId xmlns:a16="http://schemas.microsoft.com/office/drawing/2014/main" id="{2F977299-BE20-4458-9165-1AE2F6EF6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482"/>
              <a:ext cx="2245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marL="533400" indent="-5334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295400" indent="-3810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7145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1717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6289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0861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5433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0005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Tx/>
                <a:buAutoNum type="arabicParenR" startAt="5"/>
                <a:tabLst/>
                <a:defRPr/>
              </a:pPr>
              <a:r>
                <a:rPr kumimoji="0" lang="he-IL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העצמה אחרים לפעולה רחבת היקף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>
            <a:extLst>
              <a:ext uri="{FF2B5EF4-FFF2-40B4-BE49-F238E27FC236}">
                <a16:creationId xmlns:a16="http://schemas.microsoft.com/office/drawing/2014/main" id="{5D2021F7-B7A3-4860-8607-9D8DAA45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21F68D-D400-471B-A6D9-B22043FB10FE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C6DB18C-3819-45D0-A4E0-77D4CE74A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z="2900">
                <a:latin typeface="Tahoma" panose="020B0604030504040204" pitchFamily="34" charset="0"/>
              </a:rPr>
              <a:t>Kotter’s Eight Steps for Leading Organizational Change</a:t>
            </a:r>
          </a:p>
        </p:txBody>
      </p:sp>
      <p:grpSp>
        <p:nvGrpSpPr>
          <p:cNvPr id="68612" name="Group 3">
            <a:extLst>
              <a:ext uri="{FF2B5EF4-FFF2-40B4-BE49-F238E27FC236}">
                <a16:creationId xmlns:a16="http://schemas.microsoft.com/office/drawing/2014/main" id="{270EFAE8-591B-4375-A44D-31876D95E07B}"/>
              </a:ext>
            </a:extLst>
          </p:cNvPr>
          <p:cNvGrpSpPr>
            <a:grpSpLocks/>
          </p:cNvGrpSpPr>
          <p:nvPr/>
        </p:nvGrpSpPr>
        <p:grpSpPr bwMode="auto">
          <a:xfrm>
            <a:off x="749301" y="4676775"/>
            <a:ext cx="8077200" cy="823912"/>
            <a:chOff x="432" y="3231"/>
            <a:chExt cx="5088" cy="519"/>
          </a:xfrm>
        </p:grpSpPr>
        <p:sp>
          <p:nvSpPr>
            <p:cNvPr id="68621" name="Rectangle 4">
              <a:extLst>
                <a:ext uri="{FF2B5EF4-FFF2-40B4-BE49-F238E27FC236}">
                  <a16:creationId xmlns:a16="http://schemas.microsoft.com/office/drawing/2014/main" id="{7445863E-B9CC-4F3B-B509-D781F6C75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3231"/>
              <a:ext cx="2843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"</a:t>
              </a:r>
              <a:r>
                <a:rPr kumimoji="0" lang="he-IL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הקפאה". ביסוס קשר בין הגישות החדשות, ההתנהגויות והתהליכים לבין ההצלחה הארגונית. </a:t>
              </a: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הבטחת דור המשך למנהיגי השינוי</a:t>
              </a:r>
              <a:r>
                <a:rPr kumimoji="0" lang="he-IL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.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  <p:sp>
          <p:nvSpPr>
            <p:cNvPr id="68622" name="Rectangle 5">
              <a:extLst>
                <a:ext uri="{FF2B5EF4-FFF2-40B4-BE49-F238E27FC236}">
                  <a16:creationId xmlns:a16="http://schemas.microsoft.com/office/drawing/2014/main" id="{4DC04DE1-BDE0-417C-8C1C-C4D2AE54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231"/>
              <a:ext cx="2245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marL="533400" indent="-5334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295400" indent="-3810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7145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1717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6289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0861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5433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0005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Tx/>
                <a:buAutoNum type="arabicParenR" startAt="8"/>
                <a:tabLst/>
                <a:defRPr/>
              </a:pPr>
              <a:r>
                <a:rPr kumimoji="0" lang="he-IL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עיגון הגישות החדשות בתרבות (מיסוד)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</p:grpSp>
      <p:grpSp>
        <p:nvGrpSpPr>
          <p:cNvPr id="68613" name="Group 6">
            <a:extLst>
              <a:ext uri="{FF2B5EF4-FFF2-40B4-BE49-F238E27FC236}">
                <a16:creationId xmlns:a16="http://schemas.microsoft.com/office/drawing/2014/main" id="{065C5A6A-5641-4109-9906-557B5DEA5332}"/>
              </a:ext>
            </a:extLst>
          </p:cNvPr>
          <p:cNvGrpSpPr>
            <a:grpSpLocks/>
          </p:cNvGrpSpPr>
          <p:nvPr/>
        </p:nvGrpSpPr>
        <p:grpSpPr bwMode="auto">
          <a:xfrm>
            <a:off x="792163" y="3536950"/>
            <a:ext cx="8077200" cy="1314450"/>
            <a:chOff x="432" y="2404"/>
            <a:chExt cx="5088" cy="827"/>
          </a:xfrm>
        </p:grpSpPr>
        <p:sp>
          <p:nvSpPr>
            <p:cNvPr id="68619" name="Rectangle 7">
              <a:extLst>
                <a:ext uri="{FF2B5EF4-FFF2-40B4-BE49-F238E27FC236}">
                  <a16:creationId xmlns:a16="http://schemas.microsoft.com/office/drawing/2014/main" id="{97F684F1-EC80-4543-82C3-AE4799E7B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2404"/>
              <a:ext cx="2843" cy="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הקואליציה המנחה משתמשת בהצלחות להשגת שינוים וגיוס תומכים לשורותיה.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  <p:sp>
          <p:nvSpPr>
            <p:cNvPr id="68620" name="Rectangle 8">
              <a:extLst>
                <a:ext uri="{FF2B5EF4-FFF2-40B4-BE49-F238E27FC236}">
                  <a16:creationId xmlns:a16="http://schemas.microsoft.com/office/drawing/2014/main" id="{5D2B3E96-1D7C-4528-B94C-820031AF4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404"/>
              <a:ext cx="2245" cy="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marL="533400" indent="-5334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295400" indent="-3810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7145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1717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6289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0861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5433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0005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Tx/>
                <a:buAutoNum type="arabicParenR" startAt="7"/>
                <a:tabLst/>
                <a:defRPr/>
              </a:pPr>
              <a:r>
                <a:rPr kumimoji="0" lang="he-IL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ביסוס הישגים ויצירת שינויים נוספים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</p:grpSp>
      <p:grpSp>
        <p:nvGrpSpPr>
          <p:cNvPr id="68614" name="Group 9">
            <a:extLst>
              <a:ext uri="{FF2B5EF4-FFF2-40B4-BE49-F238E27FC236}">
                <a16:creationId xmlns:a16="http://schemas.microsoft.com/office/drawing/2014/main" id="{5D4A3EC6-AAF3-4D2D-9B6F-E3A48687C098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276475"/>
            <a:ext cx="8077200" cy="638175"/>
            <a:chOff x="432" y="2001"/>
            <a:chExt cx="5088" cy="403"/>
          </a:xfrm>
        </p:grpSpPr>
        <p:sp>
          <p:nvSpPr>
            <p:cNvPr id="68617" name="Rectangle 10">
              <a:extLst>
                <a:ext uri="{FF2B5EF4-FFF2-40B4-BE49-F238E27FC236}">
                  <a16:creationId xmlns:a16="http://schemas.microsoft.com/office/drawing/2014/main" id="{E0AD5912-E39C-4FD5-93C9-5FC41DAC0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2001"/>
              <a:ext cx="2843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תוכניות קצרות טווח שיאפשרו הצלחה נראית לעין.</a:t>
              </a:r>
            </a:p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he-IL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מתן הכרה ותגמול לעובדים המעורבים בשיפור.</a:t>
              </a: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  <p:sp>
          <p:nvSpPr>
            <p:cNvPr id="68618" name="Rectangle 11">
              <a:extLst>
                <a:ext uri="{FF2B5EF4-FFF2-40B4-BE49-F238E27FC236}">
                  <a16:creationId xmlns:a16="http://schemas.microsoft.com/office/drawing/2014/main" id="{2D66A927-453C-422F-A21E-22FFFE7B1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001"/>
              <a:ext cx="2245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/>
            <a:lstStyle>
              <a:lvl1pPr marL="533400" indent="-5334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3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914400" indent="-457200" algn="r" rtl="1">
                <a:spcBef>
                  <a:spcPct val="20000"/>
                </a:spcBef>
                <a:buSzPct val="70000"/>
                <a:buFont typeface="Wingdings" panose="05000000000000000000" pitchFamily="2" charset="2"/>
                <a:buBlip>
                  <a:blip r:embed="rId3"/>
                </a:buBlip>
                <a:defRPr sz="28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295400" indent="-3810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7145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20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171700" indent="-342900" algn="r" rtl="1">
                <a:spcBef>
                  <a:spcPct val="20000"/>
                </a:spcBef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6289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30861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5433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4000500" indent="-342900" algn="r" rtl="1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3"/>
                </a:buBlip>
                <a:defRPr sz="16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70000"/>
                <a:buFontTx/>
                <a:buAutoNum type="arabicParenR" startAt="6"/>
                <a:tabLst/>
                <a:defRPr/>
              </a:pPr>
              <a:r>
                <a:rPr kumimoji="0" lang="he-IL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David" panose="020E0502060401010101" pitchFamily="34" charset="-79"/>
                </a:rPr>
                <a:t>יצירת "ניצחונות" קצרי-טווח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endParaRPr>
            </a:p>
          </p:txBody>
        </p:sp>
      </p:grpSp>
      <p:sp>
        <p:nvSpPr>
          <p:cNvPr id="68615" name="Rectangle 12">
            <a:extLst>
              <a:ext uri="{FF2B5EF4-FFF2-40B4-BE49-F238E27FC236}">
                <a16:creationId xmlns:a16="http://schemas.microsoft.com/office/drawing/2014/main" id="{C381E359-3973-4155-8C96-B02996EA8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9738" y="1773238"/>
            <a:ext cx="4513262" cy="365125"/>
          </a:xfrm>
          <a:prstGeom prst="rect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rPr>
              <a:t>תיאור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David" panose="020E0502060401010101" pitchFamily="34" charset="-79"/>
            </a:endParaRPr>
          </a:p>
        </p:txBody>
      </p:sp>
      <p:sp>
        <p:nvSpPr>
          <p:cNvPr id="68616" name="Rectangle 13">
            <a:extLst>
              <a:ext uri="{FF2B5EF4-FFF2-40B4-BE49-F238E27FC236}">
                <a16:creationId xmlns:a16="http://schemas.microsoft.com/office/drawing/2014/main" id="{AAD5F97D-6F7D-493E-9FE4-9E0D4D969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73238"/>
            <a:ext cx="3563938" cy="365125"/>
          </a:xfrm>
          <a:prstGeom prst="rect">
            <a:avLst/>
          </a:prstGeom>
          <a:solidFill>
            <a:srgbClr val="3399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he-IL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David" panose="020E0502060401010101" pitchFamily="34" charset="-79"/>
              </a:rPr>
              <a:t>צעד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David" panose="020E0502060401010101" pitchFamily="34" charset="-79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>
            <a:extLst>
              <a:ext uri="{FF2B5EF4-FFF2-40B4-BE49-F238E27FC236}">
                <a16:creationId xmlns:a16="http://schemas.microsoft.com/office/drawing/2014/main" id="{0E9788D3-2D3B-48E2-953D-52261B18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5BB33D-59E9-4883-81F0-DA909E7195A8}" type="slidenum">
              <a:rPr kumimoji="0" lang="he-IL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E813E2F0-CDDA-4D13-A06B-4B712B9F6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altLang="en-US" dirty="0"/>
              <a:t>הנהגת שינוי</a:t>
            </a:r>
            <a:endParaRPr lang="en-US" altLang="en-US" dirty="0"/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02DAA9C8-BC3E-496B-9297-354FF1F24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he-IL" altLang="en-US" sz="3600" dirty="0"/>
              <a:t>כפיה וענישה</a:t>
            </a:r>
            <a:r>
              <a:rPr lang="he-IL" altLang="en-US" dirty="0"/>
              <a:t> </a:t>
            </a:r>
          </a:p>
          <a:p>
            <a:pPr lvl="1" eaLnBrk="1" hangingPunct="1"/>
            <a:r>
              <a:rPr lang="he-IL" altLang="en-US" sz="3200" dirty="0"/>
              <a:t>אכיפה נוקשה של נהלים ותקנות חדשות, איומי ענישה גלויים וסמויים, תביעה לדין של מתנגדים, פיטורין...</a:t>
            </a:r>
          </a:p>
          <a:p>
            <a:pPr marL="457200" lvl="1" indent="0" eaLnBrk="1" hangingPunct="1">
              <a:buNone/>
            </a:pPr>
            <a:endParaRPr lang="he-IL" altLang="en-US" sz="3200" dirty="0"/>
          </a:p>
          <a:p>
            <a:pPr eaLnBrk="1" hangingPunct="1"/>
            <a:r>
              <a:rPr lang="he-IL" altLang="en-US" sz="3600" dirty="0"/>
              <a:t>תשלומים והטבות</a:t>
            </a:r>
          </a:p>
          <a:p>
            <a:pPr lvl="1" eaLnBrk="1" hangingPunct="1"/>
            <a:r>
              <a:rPr lang="he-IL" altLang="en-US" sz="3200" dirty="0"/>
              <a:t>פיצוי גלוי או סמוי למשתתפים בתהליך השינוי והובלתו</a:t>
            </a:r>
            <a:endParaRPr lang="he-IL" altLang="en-US" dirty="0"/>
          </a:p>
          <a:p>
            <a:pPr lvl="1" eaLnBrk="1" hangingPunct="1"/>
            <a:endParaRPr lang="he-IL" altLang="en-US" sz="3600" dirty="0"/>
          </a:p>
          <a:p>
            <a:pPr eaLnBrk="1" hangingPunct="1"/>
            <a:endParaRPr lang="en-US" altLang="en-US" sz="3600" dirty="0"/>
          </a:p>
          <a:p>
            <a:pPr eaLnBrk="1" hangingPunct="1"/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C83EAF-B6E5-4F5D-9749-6D327A6B0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5027071"/>
            <a:ext cx="4067944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840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>
            <a:extLst>
              <a:ext uri="{FF2B5EF4-FFF2-40B4-BE49-F238E27FC236}">
                <a16:creationId xmlns:a16="http://schemas.microsoft.com/office/drawing/2014/main" id="{B0BA03C6-AE5E-47E9-8CB7-8E8F849E8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785239-442A-4324-B15D-2AD0FDB83037}" type="slidenum">
              <a:rPr kumimoji="0" lang="he-IL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F597030A-AE92-4A50-BFF5-B13CC3E5C3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altLang="en-US" dirty="0"/>
              <a:t>הנהגת שינוי</a:t>
            </a:r>
            <a:endParaRPr lang="en-US" altLang="en-US" dirty="0"/>
          </a:p>
        </p:txBody>
      </p:sp>
      <p:sp>
        <p:nvSpPr>
          <p:cNvPr id="915459" name="Rectangle 3">
            <a:extLst>
              <a:ext uri="{FF2B5EF4-FFF2-40B4-BE49-F238E27FC236}">
                <a16:creationId xmlns:a16="http://schemas.microsoft.com/office/drawing/2014/main" id="{50002B0C-AE46-4BCB-B398-DF52FE203A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764704"/>
            <a:ext cx="8713787" cy="5651500"/>
          </a:xfrm>
        </p:spPr>
        <p:txBody>
          <a:bodyPr/>
          <a:lstStyle/>
          <a:p>
            <a:pPr eaLnBrk="1" hangingPunct="1"/>
            <a:r>
              <a:rPr lang="he-IL" altLang="en-US" sz="3600" dirty="0"/>
              <a:t>מיון - יציבות רגשית ופתיחות לשינויים</a:t>
            </a:r>
          </a:p>
          <a:p>
            <a:pPr eaLnBrk="1" hangingPunct="1"/>
            <a:r>
              <a:rPr lang="he-IL" altLang="en-US" sz="3600" dirty="0"/>
              <a:t>הסברה והדרכה - סיבות לשינוי ופרטי השינוי </a:t>
            </a:r>
          </a:p>
          <a:p>
            <a:pPr lvl="1" eaLnBrk="1" hangingPunct="1"/>
            <a:r>
              <a:rPr lang="he-IL" altLang="en-US" sz="3200" dirty="0"/>
              <a:t>הקטנת אי ודאות</a:t>
            </a:r>
          </a:p>
          <a:p>
            <a:pPr lvl="1" eaLnBrk="1" hangingPunct="1"/>
            <a:r>
              <a:rPr lang="he-IL" altLang="en-US" sz="3200" dirty="0"/>
              <a:t>יצירת מסוגלות עצמית לשינוי</a:t>
            </a:r>
          </a:p>
          <a:p>
            <a:pPr eaLnBrk="1" hangingPunct="1"/>
            <a:r>
              <a:rPr lang="he-IL" altLang="en-US" sz="3600" dirty="0"/>
              <a:t>אמפתיה ותמיכה, תקשורת</a:t>
            </a:r>
          </a:p>
          <a:p>
            <a:pPr eaLnBrk="1" hangingPunct="1"/>
            <a:r>
              <a:rPr lang="he-IL" altLang="en-US" sz="3600" dirty="0"/>
              <a:t>שיתוף ומעורבות</a:t>
            </a:r>
          </a:p>
          <a:p>
            <a:pPr lvl="1" eaLnBrk="1" hangingPunct="1"/>
            <a:r>
              <a:rPr lang="he-IL" altLang="en-US" sz="3200" dirty="0"/>
              <a:t>שיתוף העובדים באבחון בפתרונות ובדרך ישומן</a:t>
            </a:r>
          </a:p>
          <a:p>
            <a:pPr lvl="1" eaLnBrk="1" hangingPunct="1"/>
            <a:r>
              <a:rPr lang="he-IL" altLang="en-US" sz="3200" dirty="0"/>
              <a:t>צוות שינוי</a:t>
            </a:r>
            <a:endParaRPr lang="en-US" altLang="en-US" sz="3200" dirty="0"/>
          </a:p>
          <a:p>
            <a:pPr lvl="1" eaLnBrk="1" hangingPunct="1"/>
            <a:r>
              <a:rPr lang="he-IL" altLang="en-US" sz="3200" dirty="0"/>
              <a:t>שיתוף ומעורבות אמיתיים (אמון הדדי)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he-IL" altLang="en-US" sz="3600" dirty="0"/>
          </a:p>
          <a:p>
            <a:pPr eaLnBrk="1" hangingPunct="1"/>
            <a:endParaRPr lang="en-US" altLang="en-US" sz="3600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5537643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1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1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1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1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1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1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1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5459" grpId="0" build="p"/>
    </p:bldLst>
  </p:timing>
</p:sld>
</file>

<file path=ppt/theme/theme1.xml><?xml version="1.0" encoding="utf-8"?>
<a:theme xmlns:a="http://schemas.openxmlformats.org/drawingml/2006/main" name="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295</Words>
  <Application>Microsoft Office PowerPoint</Application>
  <PresentationFormat>On-screen Show (4:3)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Black</vt:lpstr>
      <vt:lpstr>Shruti</vt:lpstr>
      <vt:lpstr>Tahoma</vt:lpstr>
      <vt:lpstr>Times New Roman</vt:lpstr>
      <vt:lpstr>Wingdings</vt:lpstr>
      <vt:lpstr>01090301</vt:lpstr>
      <vt:lpstr>1_01090301</vt:lpstr>
      <vt:lpstr>2_01090301</vt:lpstr>
      <vt:lpstr>שינוי ארגוני</vt:lpstr>
      <vt:lpstr>Kotter’s Eight Steps for Leading Organizational Change</vt:lpstr>
      <vt:lpstr>Kotter’s Eight Steps for Leading Organizational Change</vt:lpstr>
      <vt:lpstr>Kotter’s Eight Steps for Leading Organizational Change</vt:lpstr>
      <vt:lpstr>הנהגת שינוי</vt:lpstr>
      <vt:lpstr>הנהגת שינוי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שינוי ארגוני</dc:title>
  <dc:creator>Sharon Barkan</dc:creator>
  <cp:lastModifiedBy>Sharon Barkan</cp:lastModifiedBy>
  <cp:revision>19</cp:revision>
  <dcterms:created xsi:type="dcterms:W3CDTF">2020-04-10T23:01:16Z</dcterms:created>
  <dcterms:modified xsi:type="dcterms:W3CDTF">2020-04-12T14:19:11Z</dcterms:modified>
</cp:coreProperties>
</file>